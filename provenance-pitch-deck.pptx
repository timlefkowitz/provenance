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4A2F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0.15</c:v>
                </c:pt>
                <c:pt idx="1">
                  <c:v>0.85</c:v>
                </c:pt>
                <c:pt idx="2">
                  <c:v>2.8</c:v>
                </c:pt>
                <c:pt idx="3">
                  <c:v>6.2</c:v>
                </c:pt>
                <c:pt idx="4">
                  <c:v>10.5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8E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54864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114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spc="400" kern="0" dirty="0">
                <a:solidFill>
                  <a:srgbClr val="C495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 · HISTORY · AUTHENTICATION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20040" y="3657600"/>
            <a:ext cx="1371600" cy="256032"/>
          </a:xfrm>
          <a:prstGeom prst="rect">
            <a:avLst/>
          </a:prstGeom>
          <a:solidFill>
            <a:srgbClr val="7A4F40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C9A96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PATENT PENDING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3840480" y="914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E8E8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INVESTOR PRESENTATION  · 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0" y="1371600"/>
            <a:ext cx="4937760" cy="1828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5087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840480" y="2743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Journal of Art, Objects &amp; Their Histories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0480" y="3383280"/>
            <a:ext cx="4937760" cy="1828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35478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E8E8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Verified certificates · Immutable provenance · A global registry for art and cultural objects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7A4F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$65B industry built on trust —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no reliable way to verify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046720" cy="1828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64008" cy="256032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Forgery &amp; Fraud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788920"/>
            <a:ext cx="23957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art market loses an estimated $6B per year to forgeries. Without a verified chain of custody, buyers have no reliable source of truth.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2194560"/>
            <a:ext cx="64008" cy="256032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 Gaps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47872" y="2788920"/>
            <a:ext cx="23957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Up to 40% of works at auction lack complete ownership histories. A single missing link can erase millions in value — or expose legal liability.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194560"/>
            <a:ext cx="64008" cy="256032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Global Standard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82512" y="2788920"/>
            <a:ext cx="23957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Certificates exist on paper, in email chains, or private databases. There is no universal, interoperable, tamper-proof record.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2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19472" y="0"/>
            <a:ext cx="54864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C495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tamper-proof registry for art, ownership, and cultural history.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2880" cy="18288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6479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Immutable COA · COO · COS certificates — blockchain-anchored on Avalanche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82880" cy="18288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40487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Verified gallery, artist, and collector profiles with role-specific toolsets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82880" cy="18288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04495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AI-assisted provenance entry — upload a photo, we handle the rest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82880" cy="18288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68503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Grant discovery, exhibition management, open call aggregation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548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9E8E8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Built for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57800" y="96012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57800" y="960120"/>
            <a:ext cx="64008" cy="77724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0149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1307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Claim, certificate &amp; publish 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57800" y="192024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57800" y="1920240"/>
            <a:ext cx="64008" cy="77724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19751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Collectors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2267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Manage &amp; appraise collections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57800" y="288036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57800" y="2880360"/>
            <a:ext cx="64008" cy="77724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29352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Galleries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32278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Exhibitions, artist rosters &amp; certificates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57800" y="384048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257800" y="3840480"/>
            <a:ext cx="64008" cy="77724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8953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41879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Verified show certificates &amp; records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7A4F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Every stakeholder.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1828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697480" cy="1417320"/>
          </a:xfrm>
          <a:prstGeom prst="rect">
            <a:avLst/>
          </a:prstGeom>
          <a:solidFill>
            <a:srgbClr val="FBF8F3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64008" cy="14173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 Engine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COA · COO · COS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One-tap issuance. Blockchain-anchored. Legally recognized.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1600200"/>
            <a:ext cx="2697480" cy="1417320"/>
          </a:xfrm>
          <a:prstGeom prst="rect">
            <a:avLst/>
          </a:prstGeom>
          <a:solidFill>
            <a:srgbClr val="FBF8F3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600200"/>
            <a:ext cx="64008" cy="14173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16916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Registry &amp; Timeline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84448" y="20574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Immutable ownership history with source citations, exhibition logs, and transfer records.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1600200"/>
            <a:ext cx="2697480" cy="1417320"/>
          </a:xfrm>
          <a:prstGeom prst="rect">
            <a:avLst/>
          </a:prstGeom>
          <a:solidFill>
            <a:srgbClr val="FBF8F3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4496" y="1600200"/>
            <a:ext cx="64008" cy="14173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6916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Profile Assistant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37376" y="20574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Upload a photo or paste a URL. The AI extracts materials, dimensions, provenance, and fills the record.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2697480" cy="1417320"/>
          </a:xfrm>
          <a:prstGeom prst="rect">
            <a:avLst/>
          </a:prstGeom>
          <a:solidFill>
            <a:srgbClr val="FBF8F3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154680"/>
            <a:ext cx="64008" cy="14173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2461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Gallery Toolset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Exhibition builder, artist roster management, certificate batch issuance, public gallery pages.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01568" y="3154680"/>
            <a:ext cx="2697480" cy="1417320"/>
          </a:xfrm>
          <a:prstGeom prst="rect">
            <a:avLst/>
          </a:prstGeom>
          <a:solidFill>
            <a:srgbClr val="FBF8F3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01568" y="3154680"/>
            <a:ext cx="64008" cy="14173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32461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Grants &amp; Open Calls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584448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Curated database of art grants, residencies, and open calls — filtered by role, deadline, and medium.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54496" y="3154680"/>
            <a:ext cx="2697480" cy="1417320"/>
          </a:xfrm>
          <a:prstGeom prst="rect">
            <a:avLst/>
          </a:prstGeom>
          <a:solidFill>
            <a:srgbClr val="FBF8F3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54496" y="3154680"/>
            <a:ext cx="64008" cy="14173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2461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Multi-Planet Expansion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37376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Artworks is live. Collectibles, Real Estate, and Vehicles share the same authenticated record-keeping engine.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51376" y="0"/>
            <a:ext cx="54864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7A4F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CREATOR WEBSITES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creator gets their own verified website.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474720" cy="1828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2768"/>
            <a:ext cx="3474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709928"/>
            <a:ext cx="146304" cy="14630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7276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2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yourname.provenance.app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474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94560"/>
            <a:ext cx="64008" cy="749808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58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Portfolio, certificates &amp; bio — all verified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3474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72384"/>
            <a:ext cx="64008" cy="749808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36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Galleries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4381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Exhibition history, roster &amp; open applications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50208"/>
            <a:ext cx="3474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50208"/>
            <a:ext cx="64008" cy="749808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142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Show records, acquisitions &amp; public COSs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34840" y="3657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C495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REVENUE ANGLE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34840" y="65836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Shopify-style platform play inside a verified art registry.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434840" y="1572768"/>
            <a:ext cx="4389120" cy="1828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1792224"/>
            <a:ext cx="146304" cy="14630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17373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Included in every subscription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90872" y="201168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Creator websites are a core perk of every paid tier — the single biggest reason to upgrade from free certificates.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2551176"/>
            <a:ext cx="146304" cy="14630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249631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domain add-on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90872" y="277063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Connect myname.com to Provenance for a premium fee. Galleries and institutions will pay for white-label control.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34840" y="3310128"/>
            <a:ext cx="146304" cy="14630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325526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site themes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90872" y="3529584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Curated art-world layouts — sold as one-time or subscription add-ons. High-margin, zero fulfillment cost.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34840" y="4069080"/>
            <a:ext cx="146304" cy="14630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401421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discovery flywheel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90872" y="4288536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Every published site indexes back to the registry. More creators = more SEO = more organic signups at zero CAC.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97680" y="4681728"/>
            <a:ext cx="4846320" cy="393192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4681728"/>
            <a:ext cx="4617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55,000+ galleries worldwide — none have a verified, certificate-linked web presence today.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C495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massive, underserved market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a digital tipping point.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1828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2743200" cy="265176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2029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$65B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4360" y="345643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Global art market (Art Basel / UBS 2025)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4992" y="1920240"/>
            <a:ext cx="2743200" cy="2651760"/>
          </a:xfrm>
          <a:prstGeom prst="rect">
            <a:avLst/>
          </a:prstGeom>
          <a:solidFill>
            <a:srgbClr val="7A4F40"/>
          </a:solidFill>
          <a:ln w="12700">
            <a:solidFill>
              <a:srgbClr val="7A4F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9584" y="2029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56432" y="24231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$8B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502152" y="345643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Authentication, appraisal &amp; documentation services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72784" y="1920240"/>
            <a:ext cx="2743200" cy="26517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7376" y="2029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64224" y="24231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$400M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409944" y="345643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Digital-first provenance platforms — Year 5 target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E8E8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55,000+ galleries globally · 75M+ collectors · Art forgery costs $6B/year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7A4F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Recurring SaaS subscriptions.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Certificates free forever.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46720" cy="1828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2697480" cy="594360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476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ARTIST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5786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 / mo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9992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E8E8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 $99 / yr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" y="3346704"/>
            <a:ext cx="128016" cy="128016"/>
          </a:xfrm>
          <a:prstGeom prst="ellipse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73552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Creator website (name.provenance.app)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3685032"/>
            <a:ext cx="128016" cy="128016"/>
          </a:xfrm>
          <a:prstGeom prst="ellipse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11880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Grant &amp; open call discovery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4023360"/>
            <a:ext cx="128016" cy="128016"/>
          </a:xfrm>
          <a:prstGeom prst="ellipse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50208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AI-assisted profile builder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4361688"/>
            <a:ext cx="128016" cy="128016"/>
          </a:xfrm>
          <a:prstGeom prst="ellipse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88536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Full Toolbox (CRM, Ops, Grants)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01568" y="192024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01568" y="1920240"/>
            <a:ext cx="2697480" cy="594360"/>
          </a:xfrm>
          <a:prstGeom prst="rect">
            <a:avLst/>
          </a:prstGeom>
          <a:solidFill>
            <a:srgbClr val="7A4F40"/>
          </a:solidFill>
          <a:ln w="12700">
            <a:solidFill>
              <a:srgbClr val="7A4F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8728" y="19476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COLLECTOR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38728" y="25786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4F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$29.99 / mo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38728" y="29992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E8E8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 $299 / yr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3346704"/>
            <a:ext cx="128016" cy="128016"/>
          </a:xfrm>
          <a:prstGeom prst="ellipse">
            <a:avLst/>
          </a:prstGeom>
          <a:solidFill>
            <a:srgbClr val="7A4F40"/>
          </a:solidFill>
          <a:ln w="12700">
            <a:solidFill>
              <a:srgbClr val="7A4F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67328" y="3273552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Full collection management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66160" y="3685032"/>
            <a:ext cx="128016" cy="128016"/>
          </a:xfrm>
          <a:prstGeom prst="ellipse">
            <a:avLst/>
          </a:prstGeom>
          <a:solidFill>
            <a:srgbClr val="7A4F40"/>
          </a:solidFill>
          <a:ln w="12700">
            <a:solidFill>
              <a:srgbClr val="7A4F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7328" y="3611880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Appraisal tools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66160" y="4023360"/>
            <a:ext cx="128016" cy="128016"/>
          </a:xfrm>
          <a:prstGeom prst="ellipse">
            <a:avLst/>
          </a:prstGeom>
          <a:solidFill>
            <a:srgbClr val="7A4F40"/>
          </a:solidFill>
          <a:ln w="12700">
            <a:solidFill>
              <a:srgbClr val="7A4F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67328" y="3950208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 artwork research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566160" y="4361688"/>
            <a:ext cx="128016" cy="128016"/>
          </a:xfrm>
          <a:prstGeom prst="ellipse">
            <a:avLst/>
          </a:prstGeom>
          <a:solidFill>
            <a:srgbClr val="7A4F40"/>
          </a:solidFill>
          <a:ln w="12700">
            <a:solidFill>
              <a:srgbClr val="7A4F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67328" y="4288536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Creator website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54496" y="192024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54496" y="1920240"/>
            <a:ext cx="2697480" cy="59436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91656" y="19476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GALLERY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91656" y="25786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 / mo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391656" y="29992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E8E8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 $990 / yr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19088" y="3346704"/>
            <a:ext cx="128016" cy="128016"/>
          </a:xfrm>
          <a:prstGeom prst="ellipse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0256" y="3273552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Exhibition builder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19088" y="3685032"/>
            <a:ext cx="128016" cy="128016"/>
          </a:xfrm>
          <a:prstGeom prst="ellipse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0256" y="3611880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Artist roster management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19088" y="4023360"/>
            <a:ext cx="128016" cy="128016"/>
          </a:xfrm>
          <a:prstGeom prst="ellipse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0256" y="3950208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Certificate batch issuance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19088" y="4361688"/>
            <a:ext cx="128016" cy="128016"/>
          </a:xfrm>
          <a:prstGeom prst="ellipse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4288536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Gallery grants &amp; open calls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7A4F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REVENUE PROJECTIONS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path to $10M ARR.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1828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1508760"/>
            <a:ext cx="2651760" cy="3246120"/>
          </a:xfrm>
          <a:prstGeom prst="rect">
            <a:avLst/>
          </a:prstGeom>
          <a:solidFill>
            <a:srgbClr val="FBF8F3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72200" y="1508760"/>
            <a:ext cx="64008" cy="3246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6002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Assumptions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64224" y="2084832"/>
            <a:ext cx="118872" cy="118872"/>
          </a:xfrm>
          <a:prstGeom prst="ellipse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65392" y="201168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1,000 galleries @ $99/mo by 2028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64224" y="2523744"/>
            <a:ext cx="118872" cy="118872"/>
          </a:xfrm>
          <a:prstGeom prst="ellipse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65392" y="245059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15,000 collectors @ $29.99/mo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64224" y="2962656"/>
            <a:ext cx="118872" cy="118872"/>
          </a:xfrm>
          <a:prstGeom prst="ellipse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288950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50,000 artists @ $10/mo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64224" y="3401568"/>
            <a:ext cx="118872" cy="118872"/>
          </a:xfrm>
          <a:prstGeom prst="ellipse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65392" y="3328416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20% annual churn — conservative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364224" y="3840480"/>
            <a:ext cx="118872" cy="118872"/>
          </a:xfrm>
          <a:prstGeom prst="ellipse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65392" y="376732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transaction fees modeled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364224" y="4279392"/>
            <a:ext cx="118872" cy="118872"/>
          </a:xfrm>
          <a:prstGeom prst="ellipse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65392" y="42062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API licensing not included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2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C495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days — and moving fast.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1828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2011680" cy="2286000"/>
          </a:xfrm>
          <a:prstGeom prst="rect">
            <a:avLst/>
          </a:prstGeom>
          <a:solidFill>
            <a:srgbClr val="7A4F40"/>
          </a:solidFill>
          <a:ln w="6350">
            <a:solidFill>
              <a:srgbClr val="C49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828800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$12.5K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Pre-seed raised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95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Bootstrap + angels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33472" y="1691640"/>
            <a:ext cx="2011680" cy="2286000"/>
          </a:xfrm>
          <a:prstGeom prst="rect">
            <a:avLst/>
          </a:prstGeom>
          <a:solidFill>
            <a:srgbClr val="7A4F40"/>
          </a:solidFill>
          <a:ln w="6350">
            <a:solidFill>
              <a:srgbClr val="C49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06624" y="1828800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24912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Product in market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24912" y="3108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95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Artworks planet deployed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9744" y="1691640"/>
            <a:ext cx="2011680" cy="2286000"/>
          </a:xfrm>
          <a:prstGeom prst="rect">
            <a:avLst/>
          </a:prstGeom>
          <a:solidFill>
            <a:srgbClr val="7A4F40"/>
          </a:solidFill>
          <a:ln w="6350">
            <a:solidFill>
              <a:srgbClr val="C49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82896" y="1828800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901184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User roles live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01184" y="3108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95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Artist · Collector · Gallery · Institution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86016" y="1691640"/>
            <a:ext cx="2011680" cy="2286000"/>
          </a:xfrm>
          <a:prstGeom prst="rect">
            <a:avLst/>
          </a:prstGeom>
          <a:solidFill>
            <a:srgbClr val="7A4F40"/>
          </a:solidFill>
          <a:ln w="6350">
            <a:solidFill>
              <a:srgbClr val="C49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59168" y="1828800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Patent Pending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77456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IP protection filed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77456" y="3108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95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Authentication methodology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We are pre-revenue and raising to accelerate product, growth, and partnerships.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7A4F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MOAT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multi-planet registry no competitor can copy.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1828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64008" cy="137160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Effects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Every artist who uploads work, every gallery that issues a certificate, and every collector who claims ownership deepens the registry. Data compounds.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828800"/>
            <a:ext cx="64008" cy="137160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Switching Costs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30428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Certificates are anchored on-chain and linked to profiles. Moving away means losing your entire institutional record — a record institutions won't abandon.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37560"/>
            <a:ext cx="64008" cy="137160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29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Multi-Planet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81304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Artworks is live. The same authentication architecture extends to Collectibles, Real Estate, and Vehicles — four verticals from one codebase.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33756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337560"/>
            <a:ext cx="64008" cy="137160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429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Patent Pending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81304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Our methodology for issuing and verifying digital certificates of authenticity is protected, creating a legal barrier around the core workflow.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7A4F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months to meaningful ARR.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1828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48840"/>
            <a:ext cx="8046720" cy="36576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2011680"/>
            <a:ext cx="274320" cy="274320"/>
          </a:xfrm>
          <a:prstGeom prst="ellipse">
            <a:avLst/>
          </a:prstGeom>
          <a:solidFill>
            <a:srgbClr val="C9A9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A4F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965960" cy="2331720"/>
          </a:xfrm>
          <a:prstGeom prst="rect">
            <a:avLst/>
          </a:prstGeom>
          <a:solidFill>
            <a:srgbClr val="FBF8F3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23160"/>
            <a:ext cx="64008" cy="2331720"/>
          </a:xfrm>
          <a:prstGeom prst="rect">
            <a:avLst/>
          </a:prstGeom>
          <a:solidFill>
            <a:srgbClr val="C9A96E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49631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 Close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100584" cy="1005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9992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Close seed round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520440"/>
            <a:ext cx="100584" cy="1005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4564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Hire founding team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100584" cy="1005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9136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Launch paid tiers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2011680"/>
            <a:ext cx="274320" cy="274320"/>
          </a:xfrm>
          <a:prstGeom prst="ellipse">
            <a:avLst/>
          </a:prstGeom>
          <a:solidFill>
            <a:srgbClr val="4A2F2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508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A4F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 2026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2423160"/>
            <a:ext cx="1965960" cy="2331720"/>
          </a:xfrm>
          <a:prstGeom prst="rect">
            <a:avLst/>
          </a:prstGeom>
          <a:solidFill>
            <a:srgbClr val="FBF8F3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06040" y="2423160"/>
            <a:ext cx="64008" cy="233172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0632" y="249631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&amp; Partnerships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88920" y="3063240"/>
            <a:ext cx="100584" cy="1005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53512" y="29992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Gallery partnership program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88920" y="3520440"/>
            <a:ext cx="100584" cy="1005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53512" y="34564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API for institutional access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88920" y="3977640"/>
            <a:ext cx="100584" cy="1005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53512" y="39136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Collectibles planet beta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40680" y="2011680"/>
            <a:ext cx="274320" cy="274320"/>
          </a:xfrm>
          <a:prstGeom prst="ellipse">
            <a:avLst/>
          </a:prstGeom>
          <a:solidFill>
            <a:srgbClr val="4A2F2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508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A4F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Q1–Q2 2027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423160"/>
            <a:ext cx="1965960" cy="2331720"/>
          </a:xfrm>
          <a:prstGeom prst="rect">
            <a:avLst/>
          </a:prstGeom>
          <a:solidFill>
            <a:srgbClr val="FBF8F3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423160"/>
            <a:ext cx="64008" cy="233172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49631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3063240"/>
            <a:ext cx="100584" cy="1005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29992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 Estate &amp; Vehicles planets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520440"/>
            <a:ext cx="100584" cy="1005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34564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Public API launch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977640"/>
            <a:ext cx="100584" cy="1005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10912" y="39136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First 500 gallery subscribers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98080" y="2011680"/>
            <a:ext cx="274320" cy="274320"/>
          </a:xfrm>
          <a:prstGeom prst="ellipse">
            <a:avLst/>
          </a:prstGeom>
          <a:solidFill>
            <a:srgbClr val="4A2F2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1508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A4F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Q3–Q4 2027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20840" y="2423160"/>
            <a:ext cx="1965960" cy="2331720"/>
          </a:xfrm>
          <a:prstGeom prst="rect">
            <a:avLst/>
          </a:prstGeom>
          <a:solidFill>
            <a:srgbClr val="FBF8F3"/>
          </a:solidFill>
          <a:ln w="6350">
            <a:solidFill>
              <a:srgbClr val="D4C9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20840" y="2423160"/>
            <a:ext cx="64008" cy="233172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85432" y="249631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Milestone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903720" y="3063240"/>
            <a:ext cx="100584" cy="1005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68312" y="29992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Target $1M ARR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03720" y="3520440"/>
            <a:ext cx="100584" cy="1005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68312" y="34564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Series A preparation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03720" y="3977640"/>
            <a:ext cx="100584" cy="1005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68312" y="39136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International expansion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08192" y="0"/>
            <a:ext cx="54864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C495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ASK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$750K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0" cy="1828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423160"/>
            <a:ext cx="502920" cy="438912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231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44144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Product &amp; Engineering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670048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E8E8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Complete multi-planet build, AI features, public API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02920" cy="438912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632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0815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Sales &amp; Growth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310128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E8E8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Gallery partnership program, first 500 paid subscribers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02920" cy="438912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033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2160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Operations &amp; Legal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950208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E8E8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IP protection, compliance, team infrastructure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502920" cy="438912"/>
          </a:xfrm>
          <a:prstGeom prst="rect">
            <a:avLst/>
          </a:prstGeom>
          <a:solidFill>
            <a:srgbClr val="4A2F25"/>
          </a:solidFill>
          <a:ln w="12700">
            <a:solidFill>
              <a:srgbClr val="4A2F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434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436168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Reserve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4590288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E8E8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Working capital buffer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502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46520" y="1005840"/>
            <a:ext cx="146304" cy="14630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9418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Blockchain infrastructure matures; institutions ready to adopt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1810512"/>
            <a:ext cx="146304" cy="14630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74650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 makes authentication accessible — not just for auction houses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2615184"/>
            <a:ext cx="146304" cy="14630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2551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dominant platform has captured this space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3419856"/>
            <a:ext cx="146304" cy="14630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33558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Patent pending protects first-mover advantage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2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6400800" cy="32918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371600" y="914400"/>
            <a:ext cx="64008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114300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4A2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743200" y="2011680"/>
            <a:ext cx="3657600" cy="1828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1214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A35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Every great work deserves a permanent record.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8346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4F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timothy.lefkowitz@gmail.com  ·  provenance.app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C495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Patent Pending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2026-05-26T04:23:36Z</dcterms:created>
  <dcterms:modified xsi:type="dcterms:W3CDTF">2026-05-26T04:23:36Z</dcterms:modified>
</cp:coreProperties>
</file>